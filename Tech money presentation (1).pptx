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3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embeddedFontLst>
    <p:embeddedFont>
      <p:font typeface="Lato" panose="020F0502020204030203" pitchFamily="34" charset="0"/>
      <p:regular r:id="rId16"/>
      <p:bold r:id="rId17"/>
      <p:italic r:id="rId18"/>
      <p:boldItalic r:id="rId19"/>
    </p:embeddedFont>
    <p:embeddedFont>
      <p:font typeface="Montserrat" panose="020F0502020204030204" pitchFamily="2" charset="0"/>
      <p:regular r:id="rId20"/>
      <p:bold r:id="rId21"/>
      <p:italic r:id="rId22"/>
      <p:boldItalic r:id="rId23"/>
    </p:embeddedFon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7" d="100"/>
          <a:sy n="87" d="100"/>
        </p:scale>
        <p:origin x="60" y="34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font" Target="fonts/font11.fntdata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openxmlformats.org/officeDocument/2006/relationships/font" Target="fonts/font12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1f87997393_0_7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1f87997393_0_7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1f87997393_0_8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1f87997393_0_8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1f87997393_0_12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1f87997393_0_12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1f87997393_0_8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1f87997393_0_8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g1f87997393_0_8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9" name="Google Shape;259;g1f87997393_0_8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e04d3b825d81cc1_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6" name="Google Shape;266;g3e04d3b825d81cc1_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2dfe3a586413aabf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2dfe3a586413aabf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g3e04d3b825d81cc1_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2" name="Google Shape;282;g3e04d3b825d81cc1_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1f87997393_0_8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1f87997393_0_8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6ee9ca331b0cc02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6ee9ca331b0cc02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1f87997393_0_10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1f87997393_0_10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6ee9ca331b0cc02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6ee9ca331b0cc02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1f87997393_0_1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8" name="Google Shape;358;g1f87997393_0_1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 descr="offset_comp_406605.jpg"/>
          <p:cNvPicPr preferRelativeResize="0"/>
          <p:nvPr/>
        </p:nvPicPr>
        <p:blipFill rotWithShape="1">
          <a:blip r:embed="rId2">
            <a:alphaModFix amt="66000"/>
          </a:blip>
          <a:srcRect l="20991" t="2690" r="40112" b="39565"/>
          <a:stretch/>
        </p:blipFill>
        <p:spPr>
          <a:xfrm>
            <a:off x="0" y="0"/>
            <a:ext cx="5157900" cy="5143500"/>
          </a:xfrm>
          <a:prstGeom prst="rtTriangle">
            <a:avLst/>
          </a:prstGeom>
          <a:noFill/>
          <a:ln>
            <a:noFill/>
          </a:ln>
        </p:spPr>
      </p:pic>
      <p:pic>
        <p:nvPicPr>
          <p:cNvPr id="11" name="Google Shape;11;p2" descr="offset_comp_342327_edtied.jpg"/>
          <p:cNvPicPr preferRelativeResize="0"/>
          <p:nvPr/>
        </p:nvPicPr>
        <p:blipFill rotWithShape="1">
          <a:blip r:embed="rId3">
            <a:alphaModFix amt="31000"/>
          </a:blip>
          <a:srcRect l="14009" t="35833" r="43289" b="11297"/>
          <a:stretch/>
        </p:blipFill>
        <p:spPr>
          <a:xfrm rot="10800000">
            <a:off x="6976800" y="-25"/>
            <a:ext cx="2167200" cy="2012700"/>
          </a:xfrm>
          <a:prstGeom prst="rtTriangle">
            <a:avLst/>
          </a:prstGeom>
          <a:noFill/>
          <a:ln>
            <a:noFill/>
          </a:ln>
        </p:spPr>
      </p:pic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" name="Google Shape;15;p2"/>
          <p:cNvSpPr/>
          <p:nvPr/>
        </p:nvSpPr>
        <p:spPr>
          <a:xfrm rot="-5400000">
            <a:off x="5846" y="-4836"/>
            <a:ext cx="2291400" cy="2300100"/>
          </a:xfrm>
          <a:prstGeom prst="diagStripe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 flipH="1">
            <a:off x="652821" y="576768"/>
            <a:ext cx="2300100" cy="2291400"/>
          </a:xfrm>
          <a:prstGeom prst="diagStripe">
            <a:avLst>
              <a:gd name="adj" fmla="val 50000"/>
            </a:avLst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9" name="Google Shape;19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21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7" name="Google Shape;37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9" name="Google Shape;39;p3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" name="Google Shape;40;p3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" name="Google Shape;41;p3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" name="Google Shape;42;p3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OC">
  <p:cSld name="SECTION_HEADER_1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45" name="Google Shape;45;p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47;p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48;p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52;p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53;p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54;p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55;p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" name="Google Shape;56;p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" name="Google Shape;57;p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60;p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61;p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62;p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3" name="Google Shape;63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4" name="Google Shape;64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5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5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5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70" name="Google Shape;70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71" name="Google Shape;71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3" name="Google Shape;73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74" name="Google Shape;74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75" name="Google Shape;7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1">
  <p:cSld name="TITLE_AND_BODY_2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"/>
          <p:cNvSpPr txBox="1">
            <a:spLocks noGrp="1"/>
          </p:cNvSpPr>
          <p:nvPr>
            <p:ph type="title"/>
          </p:nvPr>
        </p:nvSpPr>
        <p:spPr>
          <a:xfrm>
            <a:off x="361071" y="1924852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6"/>
          <p:cNvSpPr/>
          <p:nvPr/>
        </p:nvSpPr>
        <p:spPr>
          <a:xfrm>
            <a:off x="4564200" y="0"/>
            <a:ext cx="45798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6"/>
          <p:cNvSpPr txBox="1">
            <a:spLocks noGrp="1"/>
          </p:cNvSpPr>
          <p:nvPr>
            <p:ph type="body" idx="1"/>
          </p:nvPr>
        </p:nvSpPr>
        <p:spPr>
          <a:xfrm>
            <a:off x="6451271" y="1924850"/>
            <a:ext cx="2304900" cy="179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80" name="Google Shape;80;p6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6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6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6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4" name="Google Shape;84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85" name="Google Shape;85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7" name="Google Shape;87;p6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88" name="Google Shape;88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2">
  <p:cSld name="TITLE_AND_BODY_2_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7"/>
          <p:cNvSpPr txBox="1">
            <a:spLocks noGrp="1"/>
          </p:cNvSpPr>
          <p:nvPr>
            <p:ph type="title"/>
          </p:nvPr>
        </p:nvSpPr>
        <p:spPr>
          <a:xfrm>
            <a:off x="702850" y="1708619"/>
            <a:ext cx="3333300" cy="14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91" name="Google Shape;91;p7"/>
          <p:cNvSpPr/>
          <p:nvPr/>
        </p:nvSpPr>
        <p:spPr>
          <a:xfrm>
            <a:off x="0" y="3486600"/>
            <a:ext cx="9144000" cy="1656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7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7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7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7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6" name="Google Shape;96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7" name="Google Shape;97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8" name="Google Shape;98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9" name="Google Shape;99;p7"/>
          <p:cNvSpPr txBox="1">
            <a:spLocks noGrp="1"/>
          </p:cNvSpPr>
          <p:nvPr>
            <p:ph type="title" idx="2"/>
          </p:nvPr>
        </p:nvSpPr>
        <p:spPr>
          <a:xfrm>
            <a:off x="1297500" y="459490"/>
            <a:ext cx="3005700" cy="51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rtl="0"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100" name="Google Shape;10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1" name="Google Shape;101;p7"/>
          <p:cNvSpPr txBox="1">
            <a:spLocks noGrp="1"/>
          </p:cNvSpPr>
          <p:nvPr>
            <p:ph type="body" idx="1"/>
          </p:nvPr>
        </p:nvSpPr>
        <p:spPr>
          <a:xfrm>
            <a:off x="702850" y="3625275"/>
            <a:ext cx="3333300" cy="76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 sz="1100">
                <a:solidFill>
                  <a:schemeClr val="dk1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  <a:defRPr>
                <a:solidFill>
                  <a:schemeClr val="dk1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  <a:defRPr>
                <a:solidFill>
                  <a:schemeClr val="dk1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1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8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8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8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8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07" name="Google Shape;107;p8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08" name="Google Shape;108;p8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8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10" name="Google Shape;110;p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11" name="Google Shape;111;p8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2" name="Google Shape;112;p8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13" name="Google Shape;113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9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9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9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9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9" name="Google Shape;119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20" name="Google Shape;120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2" name="Google Shape;122;p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23" name="Google Shape;123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0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0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0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0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29" name="Google Shape;129;p10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30" name="Google Shape;130;p10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1" name="Google Shape;131;p10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32" name="Google Shape;132;p10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33" name="Google Shape;133;p10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34" name="Google Shape;13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1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1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1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1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0" name="Google Shape;140;p11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141" name="Google Shape;141;p11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2" name="Google Shape;142;p11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3" name="Google Shape;143;p11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4" name="Google Shape;144;p11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5" name="Google Shape;145;p11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6" name="Google Shape;146;p11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7" name="Google Shape;147;p11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8" name="Google Shape;148;p11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9" name="Google Shape;149;p11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" name="Google Shape;150;p11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" name="Google Shape;151;p11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" name="Google Shape;152;p11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11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4" name="Google Shape;154;p11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5" name="Google Shape;155;p11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6" name="Google Shape;156;p11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7" name="Google Shape;157;p11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8" name="Google Shape;158;p11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9" name="Google Shape;159;p11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60" name="Google Shape;160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2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2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2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2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6" name="Google Shape;166;p12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167" name="Google Shape;167;p12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8" name="Google Shape;168;p12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9" name="Google Shape;169;p12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70" name="Google Shape;170;p12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71" name="Google Shape;171;p12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4" name="Google Shape;174;p13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75" name="Google Shape;175;p13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6" name="Google Shape;176;p13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77" name="Google Shape;177;p13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78" name="Google Shape;178;p1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79" name="Google Shape;179;p13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3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3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3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4" name="Google Shape;184;p14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85" name="Google Shape;185;p14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" name="Google Shape;186;p14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" name="Google Shape;187;p14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" name="Google Shape;188;p14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" name="Google Shape;189;p14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90;p14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4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4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93;p14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4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4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196;p14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197;p14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4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4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4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4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4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3" name="Google Shape;203;p14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04" name="Google Shape;204;p14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160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160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160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1600"/>
              </a:spcBef>
              <a:spcAft>
                <a:spcPts val="160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205" name="Google Shape;205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06" name="Google Shape;206;p14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4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4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4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_alt3">
  <p:cSld name="TITLE_AND_BODY_1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3" name="Google Shape;213;p16" descr="offset_comp_343059.jpg"/>
          <p:cNvPicPr preferRelativeResize="0"/>
          <p:nvPr/>
        </p:nvPicPr>
        <p:blipFill rotWithShape="1">
          <a:blip r:embed="rId2">
            <a:alphaModFix amt="80000"/>
          </a:blip>
          <a:srcRect l="30474" t="11955" r="30474" b="25870"/>
          <a:stretch/>
        </p:blipFill>
        <p:spPr>
          <a:xfrm rot="-5400000">
            <a:off x="113630" y="-105700"/>
            <a:ext cx="5142300" cy="5364300"/>
          </a:xfrm>
          <a:prstGeom prst="diagStripe">
            <a:avLst>
              <a:gd name="adj" fmla="val 50343"/>
            </a:avLst>
          </a:prstGeom>
          <a:noFill/>
          <a:ln>
            <a:noFill/>
          </a:ln>
        </p:spPr>
      </p:pic>
      <p:sp>
        <p:nvSpPr>
          <p:cNvPr id="214" name="Google Shape;214;p1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15" name="Google Shape;215;p16"/>
          <p:cNvSpPr txBox="1">
            <a:spLocks noGrp="1"/>
          </p:cNvSpPr>
          <p:nvPr>
            <p:ph type="body" idx="1"/>
          </p:nvPr>
        </p:nvSpPr>
        <p:spPr>
          <a:xfrm>
            <a:off x="4018025" y="1567550"/>
            <a:ext cx="4318500" cy="176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●"/>
              <a:defRPr>
                <a:solidFill>
                  <a:schemeClr val="dk2"/>
                </a:solidFill>
              </a:defRPr>
            </a:lvl1pPr>
            <a:lvl2pPr marL="914400" lvl="1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2pPr>
            <a:lvl3pPr marL="1371600" lvl="2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3pPr>
            <a:lvl4pPr marL="1828800" lvl="3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4pPr>
            <a:lvl5pPr marL="2286000" lvl="4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5pPr>
            <a:lvl6pPr marL="2743200" lvl="5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6pPr>
            <a:lvl7pPr marL="3200400" lvl="6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●"/>
              <a:defRPr>
                <a:solidFill>
                  <a:schemeClr val="dk2"/>
                </a:solidFill>
              </a:defRPr>
            </a:lvl7pPr>
            <a:lvl8pPr marL="3657600" lvl="7" indent="-298450" rtl="0"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100"/>
              <a:buChar char="○"/>
              <a:defRPr>
                <a:solidFill>
                  <a:schemeClr val="dk2"/>
                </a:solidFill>
              </a:defRPr>
            </a:lvl8pPr>
            <a:lvl9pPr marL="4114800" lvl="8" indent="-298450" rtl="0"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1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216" name="Google Shape;21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7" name="Google Shape;217;p16">
            <a:hlinkClick r:id="" action="ppaction://noaction"/>
          </p:cNvPr>
          <p:cNvSpPr/>
          <p:nvPr/>
        </p:nvSpPr>
        <p:spPr>
          <a:xfrm>
            <a:off x="0" y="0"/>
            <a:ext cx="632700" cy="588600"/>
          </a:xfrm>
          <a:prstGeom prst="rect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6">
            <a:hlinkClick r:id="" action="ppaction://noaction"/>
          </p:cNvPr>
          <p:cNvSpPr/>
          <p:nvPr/>
        </p:nvSpPr>
        <p:spPr>
          <a:xfrm>
            <a:off x="212050" y="221751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6">
            <a:hlinkClick r:id="" action="ppaction://noaction"/>
          </p:cNvPr>
          <p:cNvSpPr/>
          <p:nvPr/>
        </p:nvSpPr>
        <p:spPr>
          <a:xfrm>
            <a:off x="212050" y="284225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6">
            <a:hlinkClick r:id="" action="ppaction://noaction"/>
          </p:cNvPr>
          <p:cNvSpPr/>
          <p:nvPr/>
        </p:nvSpPr>
        <p:spPr>
          <a:xfrm>
            <a:off x="212050" y="346699"/>
            <a:ext cx="219600" cy="18900"/>
          </a:xfrm>
          <a:prstGeom prst="rect">
            <a:avLst/>
          </a:prstGeom>
          <a:solidFill>
            <a:srgbClr val="55688B">
              <a:alpha val="3598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1" name="Google Shape;221;p1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222" name="Google Shape;222;p1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3" name="Google Shape;223;p1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9.xml"/><Relationship Id="rId4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Google Shape;228;p17"/>
          <p:cNvPicPr preferRelativeResize="0"/>
          <p:nvPr/>
        </p:nvPicPr>
        <p:blipFill rotWithShape="1">
          <a:blip r:embed="rId3">
            <a:alphaModFix/>
          </a:blip>
          <a:srcRect t="5610" b="5610"/>
          <a:stretch/>
        </p:blipFill>
        <p:spPr>
          <a:xfrm>
            <a:off x="0" y="-164150"/>
            <a:ext cx="92964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p17"/>
          <p:cNvSpPr txBox="1">
            <a:spLocks noGrp="1"/>
          </p:cNvSpPr>
          <p:nvPr>
            <p:ph type="ctrTitle"/>
          </p:nvPr>
        </p:nvSpPr>
        <p:spPr>
          <a:xfrm>
            <a:off x="1948977" y="1742841"/>
            <a:ext cx="4569600" cy="16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6000" b="1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Tech Money</a:t>
            </a:r>
            <a:endParaRPr sz="6000" b="1">
              <a:highlight>
                <a:schemeClr val="dk1"/>
              </a:highlight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6000" b="1">
                <a:highlight>
                  <a:schemeClr val="dk1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6000" b="1">
              <a:highlight>
                <a:schemeClr val="dk1"/>
              </a:highlight>
            </a:endParaRPr>
          </a:p>
        </p:txBody>
      </p:sp>
      <p:sp>
        <p:nvSpPr>
          <p:cNvPr id="230" name="Google Shape;230;p17"/>
          <p:cNvSpPr txBox="1">
            <a:spLocks noGrp="1"/>
          </p:cNvSpPr>
          <p:nvPr>
            <p:ph type="subTitle" idx="1"/>
          </p:nvPr>
        </p:nvSpPr>
        <p:spPr>
          <a:xfrm>
            <a:off x="5503297" y="3950125"/>
            <a:ext cx="3640800" cy="139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GB" sz="2400">
                <a:highlight>
                  <a:srgbClr val="000000"/>
                </a:highlight>
                <a:latin typeface="Arial"/>
                <a:ea typeface="Arial"/>
                <a:cs typeface="Arial"/>
                <a:sym typeface="Arial"/>
              </a:rPr>
              <a:t>A Research by Chinelo, Rosemary and Patience</a:t>
            </a:r>
            <a:endParaRPr sz="2400">
              <a:highlight>
                <a:srgbClr val="000000"/>
              </a:highligh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Google Shape;235;p18"/>
          <p:cNvPicPr preferRelativeResize="0"/>
          <p:nvPr/>
        </p:nvPicPr>
        <p:blipFill rotWithShape="1">
          <a:blip r:embed="rId3">
            <a:alphaModFix/>
          </a:blip>
          <a:srcRect t="7734" b="77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What is Technology?</a:t>
            </a:r>
            <a:endParaRPr b="1"/>
          </a:p>
        </p:txBody>
      </p:sp>
      <p:sp>
        <p:nvSpPr>
          <p:cNvPr id="237" name="Google Shape;237;p18"/>
          <p:cNvSpPr txBox="1">
            <a:spLocks noGrp="1"/>
          </p:cNvSpPr>
          <p:nvPr>
            <p:ph type="body" idx="1"/>
          </p:nvPr>
        </p:nvSpPr>
        <p:spPr>
          <a:xfrm>
            <a:off x="1297500" y="623355"/>
            <a:ext cx="7038900" cy="295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4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120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Technology refers to the application of scientific knowledge to create tools, systems, and solutions that enhance human life and solve problems.</a:t>
            </a:r>
            <a:endParaRPr sz="2400">
              <a:latin typeface="Arial"/>
              <a:ea typeface="Arial"/>
              <a:cs typeface="Arial"/>
              <a:sym typeface="Arial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●"/>
            </a:pPr>
            <a:r>
              <a:rPr lang="en-GB" sz="2400">
                <a:latin typeface="Arial"/>
                <a:ea typeface="Arial"/>
                <a:cs typeface="Arial"/>
                <a:sym typeface="Arial"/>
              </a:rPr>
              <a:t>It covers multiple fields such as Information Technology (IT), Artificial Intelligence (AI), Blockchain, Cybersecurity, Cloud Computing, and the Internet of Things (IoT).</a:t>
            </a:r>
            <a:endParaRPr sz="2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8" name="Google Shape;23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67577" y="0"/>
            <a:ext cx="1676425" cy="13078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3" name="Google Shape;243;p19"/>
          <p:cNvPicPr preferRelativeResize="0"/>
          <p:nvPr/>
        </p:nvPicPr>
        <p:blipFill rotWithShape="1">
          <a:blip r:embed="rId3">
            <a:alphaModFix/>
          </a:blip>
          <a:srcRect t="7734" b="77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19"/>
          <p:cNvSpPr txBox="1">
            <a:spLocks noGrp="1"/>
          </p:cNvSpPr>
          <p:nvPr>
            <p:ph type="title" idx="2"/>
          </p:nvPr>
        </p:nvSpPr>
        <p:spPr>
          <a:xfrm>
            <a:off x="372425" y="222928"/>
            <a:ext cx="3461100" cy="6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 b="1">
                <a:latin typeface="Arial"/>
                <a:ea typeface="Arial"/>
                <a:cs typeface="Arial"/>
                <a:sym typeface="Arial"/>
              </a:rPr>
              <a:t>What is Tech Money?</a:t>
            </a:r>
            <a:endParaRPr sz="1000"/>
          </a:p>
        </p:txBody>
      </p:sp>
      <p:sp>
        <p:nvSpPr>
          <p:cNvPr id="245" name="Google Shape;245;p19"/>
          <p:cNvSpPr txBox="1">
            <a:spLocks noGrp="1"/>
          </p:cNvSpPr>
          <p:nvPr>
            <p:ph type="title"/>
          </p:nvPr>
        </p:nvSpPr>
        <p:spPr>
          <a:xfrm>
            <a:off x="0" y="484374"/>
            <a:ext cx="3930900" cy="256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>
                <a:latin typeface="Arial"/>
                <a:ea typeface="Arial"/>
                <a:cs typeface="Arial"/>
                <a:sym typeface="Arial"/>
              </a:rPr>
              <a:t>Tech money represents wealth accumulated through businesses, services, and innovations driven by technology.</a:t>
            </a:r>
            <a:endParaRPr/>
          </a:p>
        </p:txBody>
      </p:sp>
      <p:sp>
        <p:nvSpPr>
          <p:cNvPr id="246" name="Google Shape;246;p19"/>
          <p:cNvSpPr txBox="1">
            <a:spLocks noGrp="1"/>
          </p:cNvSpPr>
          <p:nvPr>
            <p:ph type="body" idx="1"/>
          </p:nvPr>
        </p:nvSpPr>
        <p:spPr>
          <a:xfrm>
            <a:off x="2518490" y="2180993"/>
            <a:ext cx="6625500" cy="296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914400" lvl="1" indent="-3429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Scalability:</a:t>
            </a: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 single software product can be sold to millions without increasing production costs.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Automation:</a:t>
            </a: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AI and cloud computing reduce operational costs, making businesses more efficient.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Global Reach:</a:t>
            </a: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Digital platforms allow businesses to operate beyond physical borders.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High Demand:</a:t>
            </a: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Every industry is increasingly reliant on technology for growth and efficiency.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247" name="Google Shape;247;p19"/>
          <p:cNvPicPr preferRelativeResize="0"/>
          <p:nvPr/>
        </p:nvPicPr>
        <p:blipFill rotWithShape="1">
          <a:blip r:embed="rId4">
            <a:alphaModFix/>
          </a:blip>
          <a:srcRect t="21511" b="21505"/>
          <a:stretch/>
        </p:blipFill>
        <p:spPr>
          <a:xfrm>
            <a:off x="7525900" y="-46475"/>
            <a:ext cx="1618200" cy="895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9"/>
          <p:cNvSpPr txBox="1">
            <a:spLocks noGrp="1"/>
          </p:cNvSpPr>
          <p:nvPr>
            <p:ph type="title" idx="2"/>
          </p:nvPr>
        </p:nvSpPr>
        <p:spPr>
          <a:xfrm>
            <a:off x="4572001" y="849320"/>
            <a:ext cx="3461100" cy="6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 b="1">
                <a:latin typeface="Arial"/>
                <a:ea typeface="Arial"/>
                <a:cs typeface="Arial"/>
                <a:sym typeface="Arial"/>
              </a:rPr>
              <a:t>Why is Tech Money Profitable?</a:t>
            </a:r>
            <a:endParaRPr sz="10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0"/>
          <p:cNvPicPr preferRelativeResize="0"/>
          <p:nvPr/>
        </p:nvPicPr>
        <p:blipFill rotWithShape="1">
          <a:blip r:embed="rId3">
            <a:alphaModFix/>
          </a:blip>
          <a:srcRect t="8431" b="8422"/>
          <a:stretch/>
        </p:blipFill>
        <p:spPr>
          <a:xfrm>
            <a:off x="-152400" y="0"/>
            <a:ext cx="9296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0"/>
          <p:cNvSpPr txBox="1">
            <a:spLocks noGrp="1"/>
          </p:cNvSpPr>
          <p:nvPr>
            <p:ph type="title"/>
          </p:nvPr>
        </p:nvSpPr>
        <p:spPr>
          <a:xfrm>
            <a:off x="2221575" y="692998"/>
            <a:ext cx="3798900" cy="86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Types of Tech Money </a:t>
            </a:r>
            <a:endParaRPr b="1"/>
          </a:p>
        </p:txBody>
      </p:sp>
      <p:sp>
        <p:nvSpPr>
          <p:cNvPr id="255" name="Google Shape;255;p20"/>
          <p:cNvSpPr txBox="1">
            <a:spLocks noGrp="1"/>
          </p:cNvSpPr>
          <p:nvPr>
            <p:ph type="body" idx="1"/>
          </p:nvPr>
        </p:nvSpPr>
        <p:spPr>
          <a:xfrm>
            <a:off x="1546500" y="949198"/>
            <a:ext cx="60510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Direct Tech Money: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Income generated by selling tech products, developing software, or providing digital services.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Indirect Tech Money: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Earnings from investing in tech stocks, cryptocurrency, and digital assets.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800"/>
          </a:p>
        </p:txBody>
      </p:sp>
      <p:pic>
        <p:nvPicPr>
          <p:cNvPr id="256" name="Google Shape;256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504951" y="-83850"/>
            <a:ext cx="1639049" cy="16390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21"/>
          <p:cNvSpPr txBox="1">
            <a:spLocks noGrp="1"/>
          </p:cNvSpPr>
          <p:nvPr>
            <p:ph type="title"/>
          </p:nvPr>
        </p:nvSpPr>
        <p:spPr>
          <a:xfrm>
            <a:off x="1854578" y="393750"/>
            <a:ext cx="50982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Tech Products and Services </a:t>
            </a:r>
            <a:endParaRPr b="1"/>
          </a:p>
        </p:txBody>
      </p:sp>
      <p:sp>
        <p:nvSpPr>
          <p:cNvPr id="262" name="Google Shape;262;p21"/>
          <p:cNvSpPr txBox="1">
            <a:spLocks noGrp="1"/>
          </p:cNvSpPr>
          <p:nvPr>
            <p:ph type="body" idx="1"/>
          </p:nvPr>
        </p:nvSpPr>
        <p:spPr>
          <a:xfrm>
            <a:off x="3484875" y="659600"/>
            <a:ext cx="5659200" cy="1911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Tech Products (Hardware &amp; Software):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Hardware: Smartphones, Laptops, Wearables, Electric Vehicles (EVs), AI-powered gadgets.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Software: Operating Systems, Productivity Tools, Cybersecurity Software, Gaming Applications.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 b="1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Tech Services:</a:t>
            </a:r>
            <a:endParaRPr sz="1800" b="1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○"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Cloud Computing, Artificial Intelligence, Cybersecurity, Blockchain &amp; Web3, Freelancing, Digital Marketing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263" name="Google Shape;26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1766700" cy="14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8" name="Google Shape;268;p22"/>
          <p:cNvPicPr preferRelativeResize="0"/>
          <p:nvPr/>
        </p:nvPicPr>
        <p:blipFill rotWithShape="1">
          <a:blip r:embed="rId3">
            <a:alphaModFix/>
          </a:blip>
          <a:srcRect t="7734" b="7734"/>
          <a:stretch/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69" name="Google Shape;269;p22"/>
          <p:cNvSpPr txBox="1">
            <a:spLocks noGrp="1"/>
          </p:cNvSpPr>
          <p:nvPr>
            <p:ph type="title" idx="2"/>
          </p:nvPr>
        </p:nvSpPr>
        <p:spPr>
          <a:xfrm>
            <a:off x="1728775" y="222925"/>
            <a:ext cx="5843400" cy="6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2400" b="1">
                <a:latin typeface="Arial"/>
                <a:ea typeface="Arial"/>
                <a:cs typeface="Arial"/>
                <a:sym typeface="Arial"/>
              </a:rPr>
              <a:t>Top Money-Making Sectors in Tech</a:t>
            </a:r>
            <a:endParaRPr sz="1000"/>
          </a:p>
        </p:txBody>
      </p:sp>
      <p:sp>
        <p:nvSpPr>
          <p:cNvPr id="270" name="Google Shape;270;p22"/>
          <p:cNvSpPr txBox="1">
            <a:spLocks noGrp="1"/>
          </p:cNvSpPr>
          <p:nvPr>
            <p:ph type="title"/>
          </p:nvPr>
        </p:nvSpPr>
        <p:spPr>
          <a:xfrm>
            <a:off x="-181825" y="1121928"/>
            <a:ext cx="4569600" cy="192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 b="1" u="sng">
                <a:latin typeface="Arial"/>
                <a:ea typeface="Arial"/>
                <a:cs typeface="Arial"/>
                <a:sym typeface="Arial"/>
              </a:rPr>
              <a:t>Artificial Intelligence (AI) &amp; Automation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 – AI-powered businesses generate billions through automation and efficiency.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○"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OpenAI earns over $1 billion annually from ChatGPT subscriptions.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Arial"/>
              <a:buChar char="○"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NVIDIA generates $60+ billion annually, mainly from AI-powered GPUs.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 b="1" u="sng">
                <a:latin typeface="Arial"/>
                <a:ea typeface="Arial"/>
                <a:cs typeface="Arial"/>
                <a:sym typeface="Arial"/>
              </a:rPr>
              <a:t>Software as a Service (SaaS) &amp; Cloud Computing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 – Subscription-based software and cloud solutions provide steady revenue.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○"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Amazon Web Services (AWS) makes over $80 billion per year.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 b="1" u="sng">
                <a:latin typeface="Arial"/>
                <a:ea typeface="Arial"/>
                <a:cs typeface="Arial"/>
                <a:sym typeface="Arial"/>
              </a:rPr>
              <a:t>E-Commerce &amp; Digital Marketplaces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 – Selling products online has become a multi-trillion-dollar industry.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○"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Amazon generates over $500 billion annually from e-commerce.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 b="1" u="sng">
                <a:latin typeface="Arial"/>
                <a:ea typeface="Arial"/>
                <a:cs typeface="Arial"/>
                <a:sym typeface="Arial"/>
              </a:rPr>
              <a:t>Blockchain, Cryptocurrency &amp; Web3 –</a:t>
            </a:r>
            <a:r>
              <a:rPr lang="en-GB" sz="900">
                <a:latin typeface="Arial"/>
                <a:ea typeface="Arial"/>
                <a:cs typeface="Arial"/>
                <a:sym typeface="Arial"/>
              </a:rPr>
              <a:t> Decentralized finance and NFTs are reshaping digital economies.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914400" lvl="1" indent="-2857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900"/>
              <a:buFont typeface="Arial"/>
              <a:buChar char="○"/>
            </a:pPr>
            <a:r>
              <a:rPr lang="en-GB" sz="900">
                <a:latin typeface="Arial"/>
                <a:ea typeface="Arial"/>
                <a:cs typeface="Arial"/>
                <a:sym typeface="Arial"/>
              </a:rPr>
              <a:t>Binance makes billions in trading fees annually.</a:t>
            </a:r>
            <a:endParaRPr sz="9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endParaRPr sz="900"/>
          </a:p>
        </p:txBody>
      </p:sp>
      <p:sp>
        <p:nvSpPr>
          <p:cNvPr id="271" name="Google Shape;271;p22"/>
          <p:cNvSpPr txBox="1">
            <a:spLocks noGrp="1"/>
          </p:cNvSpPr>
          <p:nvPr>
            <p:ph type="body" idx="1"/>
          </p:nvPr>
        </p:nvSpPr>
        <p:spPr>
          <a:xfrm>
            <a:off x="4576850" y="1121925"/>
            <a:ext cx="4569600" cy="40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 b="1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Cybersecurity &amp; Ethical Hacking</a:t>
            </a: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Businesses pay millions to protect against cyber threats.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857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○"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Palo Alto Networks makes billions annually from cybersecurity services.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 b="1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Content Creation &amp; Digital Monetization</a:t>
            </a: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Platforms like YouTube and TikTok create millionaire influencers.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857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○"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MrBeast earns millions per month from YouTube ad revenue.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 b="1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Tech Investments &amp; Stocks</a:t>
            </a: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Early investments in tech startups can yield massive returns.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857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○"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Early investors in Tesla and OpenAI became multimillionaires.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900" b="1" u="sng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Mobile Apps &amp; Game Development</a:t>
            </a: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– Freemium models in gaming generate billions through in-app purchases.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914400" lvl="1" indent="-28575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Arial"/>
              <a:buChar char="○"/>
            </a:pPr>
            <a:r>
              <a:rPr lang="en-GB" sz="9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Fortnite makes billions annually from in-game purchases.</a:t>
            </a: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9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 sz="900">
              <a:solidFill>
                <a:schemeClr val="lt1"/>
              </a:solidFill>
            </a:endParaRPr>
          </a:p>
        </p:txBody>
      </p:sp>
      <p:pic>
        <p:nvPicPr>
          <p:cNvPr id="272" name="Google Shape;272;p22"/>
          <p:cNvPicPr preferRelativeResize="0"/>
          <p:nvPr/>
        </p:nvPicPr>
        <p:blipFill rotWithShape="1">
          <a:blip r:embed="rId4">
            <a:alphaModFix/>
          </a:blip>
          <a:srcRect t="21511" b="21505"/>
          <a:stretch/>
        </p:blipFill>
        <p:spPr>
          <a:xfrm>
            <a:off x="7572199" y="-46475"/>
            <a:ext cx="1571700" cy="895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3"/>
          <p:cNvSpPr txBox="1">
            <a:spLocks noGrp="1"/>
          </p:cNvSpPr>
          <p:nvPr>
            <p:ph type="title"/>
          </p:nvPr>
        </p:nvSpPr>
        <p:spPr>
          <a:xfrm>
            <a:off x="3022025" y="255250"/>
            <a:ext cx="4383900" cy="630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AI &amp; Cloud Computing: 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The Most Profitable in Tech</a:t>
            </a:r>
            <a:endParaRPr b="1"/>
          </a:p>
        </p:txBody>
      </p:sp>
      <p:sp>
        <p:nvSpPr>
          <p:cNvPr id="278" name="Google Shape;278;p23"/>
          <p:cNvSpPr txBox="1">
            <a:spLocks noGrp="1"/>
          </p:cNvSpPr>
          <p:nvPr>
            <p:ph type="body" idx="1"/>
          </p:nvPr>
        </p:nvSpPr>
        <p:spPr>
          <a:xfrm>
            <a:off x="2343150" y="1798950"/>
            <a:ext cx="6862500" cy="315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17500" algn="l" rtl="0">
              <a:spcBef>
                <a:spcPts val="120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AI drives automation and advanced computing, while cloud computing provides scalable infrastructure.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●"/>
            </a:pPr>
            <a:r>
              <a:rPr lang="en-GB" sz="1400" b="1">
                <a:latin typeface="Arial"/>
                <a:ea typeface="Arial"/>
                <a:cs typeface="Arial"/>
                <a:sym typeface="Arial"/>
              </a:rPr>
              <a:t>How They Work Together:</a:t>
            </a:r>
            <a:endParaRPr sz="1400" b="1"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AI needs Cloud: AI models require massive data storage and processing power, provided by cloud platforms like AWS, Google Cloud, and Microsoft Azure.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914400" lvl="1" indent="-317500" algn="l" rtl="0">
              <a:spcBef>
                <a:spcPts val="0"/>
              </a:spcBef>
              <a:spcAft>
                <a:spcPts val="0"/>
              </a:spcAft>
              <a:buSzPts val="1400"/>
              <a:buFont typeface="Arial"/>
              <a:buChar char="○"/>
            </a:pPr>
            <a:r>
              <a:rPr lang="en-GB" sz="1400">
                <a:latin typeface="Arial"/>
                <a:ea typeface="Arial"/>
                <a:cs typeface="Arial"/>
                <a:sym typeface="Arial"/>
              </a:rPr>
              <a:t>Cloud needs AI: AI enhances cloud services by improving automation, security, and data management.</a:t>
            </a:r>
            <a:endParaRPr sz="14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400"/>
          </a:p>
        </p:txBody>
      </p:sp>
      <p:pic>
        <p:nvPicPr>
          <p:cNvPr id="279" name="Google Shape;27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3431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24"/>
          <p:cNvSpPr txBox="1">
            <a:spLocks noGrp="1"/>
          </p:cNvSpPr>
          <p:nvPr>
            <p:ph type="title"/>
          </p:nvPr>
        </p:nvSpPr>
        <p:spPr>
          <a:xfrm>
            <a:off x="3439811" y="395573"/>
            <a:ext cx="57042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How AI &amp; Cloud Generate Revenue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5" name="Google Shape;285;p24"/>
          <p:cNvSpPr txBox="1">
            <a:spLocks noGrp="1"/>
          </p:cNvSpPr>
          <p:nvPr>
            <p:ph type="body" idx="1"/>
          </p:nvPr>
        </p:nvSpPr>
        <p:spPr>
          <a:xfrm>
            <a:off x="1955600" y="1270625"/>
            <a:ext cx="7188600" cy="3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AI-powered cloud services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– Companies offer AI-based solutions via cloud platforms (e.g., AWS AI, Google Cloud AI).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AWS AI services alone generate over $10 billion per year.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AI-enhanced cybersecurity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– AI detects cyber threats in real time, improving cloud security.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The cloud security market is projected to exceed $100 billion by 2025.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AI &amp; Cloud in business automation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– AI-powered tools automate repetitive business tasks, boosting efficiency.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AI automation startups are valued at over $1 billion each.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AI in cloud gaming &amp; streaming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– AI improves gaming graphics and streaming quality, enhancing user experience.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Cloud gaming is projected to reach $13 billion by 2030.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Netflix’s AI-driven recommendations increase annual profits by billions.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AutoNum type="arabicPeriod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AI-powered finance &amp; crypto trading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– AI-driven bots optimize stock and crypto trading, generating profits.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914400" lvl="1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○"/>
            </a:pPr>
            <a:r>
              <a:rPr lang="en-GB" sz="1200">
                <a:latin typeface="Arial"/>
                <a:ea typeface="Arial"/>
                <a:cs typeface="Arial"/>
                <a:sym typeface="Arial"/>
              </a:rPr>
              <a:t>AI-powered finance firms manage trillions in assets.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200"/>
          </a:p>
        </p:txBody>
      </p:sp>
      <p:pic>
        <p:nvPicPr>
          <p:cNvPr id="286" name="Google Shape;286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853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" name="Google Shape;29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 txBox="1">
            <a:spLocks noGrp="1"/>
          </p:cNvSpPr>
          <p:nvPr>
            <p:ph type="title"/>
          </p:nvPr>
        </p:nvSpPr>
        <p:spPr>
          <a:xfrm>
            <a:off x="1279300" y="283450"/>
            <a:ext cx="6115200" cy="7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Career Paths in AI &amp; Cloud Computing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293" name="Google Shape;293;p25"/>
          <p:cNvSpPr txBox="1">
            <a:spLocks noGrp="1"/>
          </p:cNvSpPr>
          <p:nvPr>
            <p:ph type="body" idx="1"/>
          </p:nvPr>
        </p:nvSpPr>
        <p:spPr>
          <a:xfrm>
            <a:off x="1279300" y="1050250"/>
            <a:ext cx="5609700" cy="1250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spcBef>
                <a:spcPts val="120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AI Careers: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Data Scientist, Machine Learning Engineer, AI Researcher, Computer Vision Specialist.</a:t>
            </a:r>
            <a:endParaRPr sz="1200">
              <a:latin typeface="Arial"/>
              <a:ea typeface="Arial"/>
              <a:cs typeface="Arial"/>
              <a:sym typeface="Arial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Font typeface="Arial"/>
              <a:buChar char="●"/>
            </a:pPr>
            <a:r>
              <a:rPr lang="en-GB" sz="1200" b="1">
                <a:latin typeface="Arial"/>
                <a:ea typeface="Arial"/>
                <a:cs typeface="Arial"/>
                <a:sym typeface="Arial"/>
              </a:rPr>
              <a:t>Cloud Careers:</a:t>
            </a:r>
            <a:r>
              <a:rPr lang="en-GB" sz="1200">
                <a:latin typeface="Arial"/>
                <a:ea typeface="Arial"/>
                <a:cs typeface="Arial"/>
                <a:sym typeface="Arial"/>
              </a:rPr>
              <a:t> Cloud Engineer, DevOps Engineer, Solutions Architect, Cloud Security Specialist</a:t>
            </a:r>
            <a:endParaRPr sz="1200"/>
          </a:p>
        </p:txBody>
      </p:sp>
      <p:grpSp>
        <p:nvGrpSpPr>
          <p:cNvPr id="294" name="Google Shape;294;p25"/>
          <p:cNvGrpSpPr/>
          <p:nvPr/>
        </p:nvGrpSpPr>
        <p:grpSpPr>
          <a:xfrm>
            <a:off x="2090200" y="2962663"/>
            <a:ext cx="1441975" cy="1442484"/>
            <a:chOff x="1359550" y="3154500"/>
            <a:chExt cx="1018200" cy="1018200"/>
          </a:xfrm>
        </p:grpSpPr>
        <p:sp>
          <p:nvSpPr>
            <p:cNvPr id="295" name="Google Shape;295;p25"/>
            <p:cNvSpPr/>
            <p:nvPr/>
          </p:nvSpPr>
          <p:spPr>
            <a:xfrm>
              <a:off x="1359550" y="3154500"/>
              <a:ext cx="1018200" cy="1018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6" name="Google Shape;296;p25"/>
            <p:cNvSpPr/>
            <p:nvPr/>
          </p:nvSpPr>
          <p:spPr>
            <a:xfrm>
              <a:off x="1409800" y="3204750"/>
              <a:ext cx="917700" cy="9177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7" name="Google Shape;297;p25"/>
            <p:cNvSpPr/>
            <p:nvPr/>
          </p:nvSpPr>
          <p:spPr>
            <a:xfrm>
              <a:off x="1409800" y="3204750"/>
              <a:ext cx="917700" cy="917700"/>
            </a:xfrm>
            <a:prstGeom prst="pie">
              <a:avLst>
                <a:gd name="adj1" fmla="val 0"/>
                <a:gd name="adj2" fmla="val 16200000"/>
              </a:avLst>
            </a:prstGeom>
            <a:gradFill>
              <a:gsLst>
                <a:gs pos="0">
                  <a:srgbClr val="A8B8DF"/>
                </a:gs>
                <a:gs pos="100000">
                  <a:srgbClr val="516DB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8" name="Google Shape;298;p25"/>
            <p:cNvSpPr/>
            <p:nvPr/>
          </p:nvSpPr>
          <p:spPr>
            <a:xfrm>
              <a:off x="1540600" y="3335550"/>
              <a:ext cx="656100" cy="656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99" name="Google Shape;299;p25"/>
          <p:cNvSpPr txBox="1"/>
          <p:nvPr/>
        </p:nvSpPr>
        <p:spPr>
          <a:xfrm>
            <a:off x="2143367" y="4316317"/>
            <a:ext cx="16200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baseline="30000">
                <a:solidFill>
                  <a:schemeClr val="lt1"/>
                </a:solidFill>
              </a:rPr>
              <a:t>$100,000 - $200,000</a:t>
            </a:r>
            <a:endParaRPr sz="1800" baseline="30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0" name="Google Shape;300;p25"/>
          <p:cNvSpPr txBox="1"/>
          <p:nvPr/>
        </p:nvSpPr>
        <p:spPr>
          <a:xfrm>
            <a:off x="2280488" y="3405626"/>
            <a:ext cx="1061400" cy="33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Ai  Engineers 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1" name="Google Shape;301;p25"/>
          <p:cNvSpPr txBox="1">
            <a:spLocks noGrp="1"/>
          </p:cNvSpPr>
          <p:nvPr>
            <p:ph type="title"/>
          </p:nvPr>
        </p:nvSpPr>
        <p:spPr>
          <a:xfrm>
            <a:off x="2530300" y="2229375"/>
            <a:ext cx="3107700" cy="837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Salary Ranges(annually)</a:t>
            </a:r>
            <a:endParaRPr sz="1800"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endParaRPr sz="1800"/>
          </a:p>
        </p:txBody>
      </p:sp>
      <p:grpSp>
        <p:nvGrpSpPr>
          <p:cNvPr id="302" name="Google Shape;302;p25"/>
          <p:cNvGrpSpPr/>
          <p:nvPr/>
        </p:nvGrpSpPr>
        <p:grpSpPr>
          <a:xfrm>
            <a:off x="4248925" y="2962626"/>
            <a:ext cx="1441975" cy="1442484"/>
            <a:chOff x="1359550" y="3154500"/>
            <a:chExt cx="1018200" cy="1018200"/>
          </a:xfrm>
        </p:grpSpPr>
        <p:sp>
          <p:nvSpPr>
            <p:cNvPr id="303" name="Google Shape;303;p25"/>
            <p:cNvSpPr/>
            <p:nvPr/>
          </p:nvSpPr>
          <p:spPr>
            <a:xfrm>
              <a:off x="1359550" y="3154500"/>
              <a:ext cx="1018200" cy="101820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25"/>
            <p:cNvSpPr/>
            <p:nvPr/>
          </p:nvSpPr>
          <p:spPr>
            <a:xfrm>
              <a:off x="1409800" y="3204750"/>
              <a:ext cx="917700" cy="917700"/>
            </a:xfrm>
            <a:prstGeom prst="ellipse">
              <a:avLst/>
            </a:prstGeom>
            <a:solidFill>
              <a:srgbClr val="CCCCC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25"/>
            <p:cNvSpPr/>
            <p:nvPr/>
          </p:nvSpPr>
          <p:spPr>
            <a:xfrm>
              <a:off x="1409800" y="3204750"/>
              <a:ext cx="917700" cy="917700"/>
            </a:xfrm>
            <a:prstGeom prst="pie">
              <a:avLst>
                <a:gd name="adj1" fmla="val 0"/>
                <a:gd name="adj2" fmla="val 16200000"/>
              </a:avLst>
            </a:prstGeom>
            <a:gradFill>
              <a:gsLst>
                <a:gs pos="0">
                  <a:srgbClr val="A8B8DF"/>
                </a:gs>
                <a:gs pos="100000">
                  <a:srgbClr val="516DB4"/>
                </a:gs>
              </a:gsLst>
              <a:lin ang="5400012" scaled="0"/>
            </a:gra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25"/>
            <p:cNvSpPr/>
            <p:nvPr/>
          </p:nvSpPr>
          <p:spPr>
            <a:xfrm>
              <a:off x="1540600" y="3335550"/>
              <a:ext cx="656100" cy="6561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07" name="Google Shape;307;p25"/>
          <p:cNvSpPr txBox="1"/>
          <p:nvPr/>
        </p:nvSpPr>
        <p:spPr>
          <a:xfrm>
            <a:off x="4304363" y="3357325"/>
            <a:ext cx="13311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Cloud Architects </a:t>
            </a: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spcBef>
                <a:spcPts val="1600"/>
              </a:spcBef>
              <a:spcAft>
                <a:spcPts val="0"/>
              </a:spcAft>
              <a:buNone/>
            </a:pPr>
            <a:endParaRPr sz="1200" b="1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308" name="Google Shape;308;p25"/>
          <p:cNvSpPr txBox="1"/>
          <p:nvPr/>
        </p:nvSpPr>
        <p:spPr>
          <a:xfrm>
            <a:off x="4248925" y="4316317"/>
            <a:ext cx="1620000" cy="43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sz="1800" baseline="30000">
                <a:solidFill>
                  <a:schemeClr val="lt1"/>
                </a:solidFill>
              </a:rPr>
              <a:t>$120,000 - $250,000</a:t>
            </a:r>
            <a:endParaRPr sz="1800" baseline="300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6"/>
          <p:cNvSpPr txBox="1">
            <a:spLocks noGrp="1"/>
          </p:cNvSpPr>
          <p:nvPr>
            <p:ph type="title"/>
          </p:nvPr>
        </p:nvSpPr>
        <p:spPr>
          <a:xfrm>
            <a:off x="3439811" y="395573"/>
            <a:ext cx="5704200" cy="10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Monetizing AI and Cloud Skills</a:t>
            </a:r>
            <a:endParaRPr b="1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4" name="Google Shape;314;p26"/>
          <p:cNvSpPr txBox="1">
            <a:spLocks noGrp="1"/>
          </p:cNvSpPr>
          <p:nvPr>
            <p:ph type="body" idx="1"/>
          </p:nvPr>
        </p:nvSpPr>
        <p:spPr>
          <a:xfrm>
            <a:off x="1955600" y="1270625"/>
            <a:ext cx="7188600" cy="3873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sz="1800" b="1" u="sng">
                <a:latin typeface="Arial"/>
                <a:ea typeface="Arial"/>
                <a:cs typeface="Arial"/>
                <a:sym typeface="Arial"/>
              </a:rPr>
              <a:t>Freelancing &amp; Consulting: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Offer AI and cloud solutions on platforms like Upwork and Fiverr.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sz="1800" b="1" u="sng">
                <a:latin typeface="Arial"/>
                <a:ea typeface="Arial"/>
                <a:cs typeface="Arial"/>
                <a:sym typeface="Arial"/>
              </a:rPr>
              <a:t>Developing &amp; Selling Applications</a:t>
            </a: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Build SaaS solutions or AI-powered apps for businesses.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sz="1800" b="1" u="sng">
                <a:latin typeface="Arial"/>
                <a:ea typeface="Arial"/>
                <a:cs typeface="Arial"/>
                <a:sym typeface="Arial"/>
              </a:rPr>
              <a:t>Content Creation &amp; Online Education</a:t>
            </a: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Create courses and educational content on AI and cloud computing.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sz="1800" b="1" u="sng">
                <a:latin typeface="Arial"/>
                <a:ea typeface="Arial"/>
                <a:cs typeface="Arial"/>
                <a:sym typeface="Arial"/>
              </a:rPr>
              <a:t>Investing in Tech Stocks &amp; Startups</a:t>
            </a:r>
            <a:r>
              <a:rPr lang="en-GB" sz="1800" b="1"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GB" sz="1800">
                <a:latin typeface="Arial"/>
                <a:ea typeface="Arial"/>
                <a:cs typeface="Arial"/>
                <a:sym typeface="Arial"/>
              </a:rPr>
              <a:t> Identify promising AI and cloud companies for investment opportunities.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5" name="Google Shape;31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20853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0" name="Google Shape;32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1" name="Google Shape;321;p2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 b="1">
                <a:latin typeface="Arial"/>
                <a:ea typeface="Arial"/>
                <a:cs typeface="Arial"/>
                <a:sym typeface="Arial"/>
              </a:rPr>
              <a:t>Recommended Learning Resources</a:t>
            </a:r>
            <a:endParaRPr b="1"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27"/>
          <p:cNvSpPr txBox="1"/>
          <p:nvPr/>
        </p:nvSpPr>
        <p:spPr>
          <a:xfrm>
            <a:off x="1029743" y="1779838"/>
            <a:ext cx="18540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AI Courses</a:t>
            </a:r>
            <a:endParaRPr b="1"/>
          </a:p>
        </p:txBody>
      </p:sp>
      <p:sp>
        <p:nvSpPr>
          <p:cNvPr id="323" name="Google Shape;323;p27"/>
          <p:cNvSpPr txBox="1"/>
          <p:nvPr/>
        </p:nvSpPr>
        <p:spPr>
          <a:xfrm>
            <a:off x="167450" y="2242925"/>
            <a:ext cx="3237600" cy="27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1" indent="-3048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GB" sz="1200">
                <a:solidFill>
                  <a:schemeClr val="lt1"/>
                </a:solidFill>
              </a:rPr>
              <a:t>Machine Learning by Andrew Ng (Coursera)</a:t>
            </a:r>
            <a:endParaRPr sz="1200">
              <a:solidFill>
                <a:schemeClr val="lt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GB" sz="1200">
                <a:solidFill>
                  <a:schemeClr val="lt1"/>
                </a:solidFill>
              </a:rPr>
              <a:t>Deep Learning Specialization (Coursera)</a:t>
            </a:r>
            <a:endParaRPr sz="1200">
              <a:solidFill>
                <a:schemeClr val="lt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GB" sz="1200">
                <a:solidFill>
                  <a:schemeClr val="lt1"/>
                </a:solidFill>
              </a:rPr>
              <a:t>AI for Everyone (Coursera)</a:t>
            </a:r>
            <a:endParaRPr sz="1200">
              <a:solidFill>
                <a:schemeClr val="lt1"/>
              </a:solidFill>
            </a:endParaRPr>
          </a:p>
          <a:p>
            <a:pPr marL="914400" lvl="1" indent="-3048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</a:pPr>
            <a:r>
              <a:rPr lang="en-GB" sz="1200">
                <a:solidFill>
                  <a:schemeClr val="lt1"/>
                </a:solidFill>
              </a:rPr>
              <a:t>Practical AI with TensorFlow (Udemy)</a:t>
            </a: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cxnSp>
        <p:nvCxnSpPr>
          <p:cNvPr id="324" name="Google Shape;324;p27"/>
          <p:cNvCxnSpPr/>
          <p:nvPr/>
        </p:nvCxnSpPr>
        <p:spPr>
          <a:xfrm flipH="1">
            <a:off x="780745" y="1641850"/>
            <a:ext cx="7596300" cy="105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25" name="Google Shape;325;p27"/>
          <p:cNvCxnSpPr/>
          <p:nvPr/>
        </p:nvCxnSpPr>
        <p:spPr>
          <a:xfrm flipH="1">
            <a:off x="780745" y="4455175"/>
            <a:ext cx="7596300" cy="10500"/>
          </a:xfrm>
          <a:prstGeom prst="straightConnector1">
            <a:avLst/>
          </a:prstGeom>
          <a:noFill/>
          <a:ln w="9525" cap="flat" cmpd="sng">
            <a:solidFill>
              <a:srgbClr val="B7B7B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26" name="Google Shape;326;p27"/>
          <p:cNvSpPr/>
          <p:nvPr/>
        </p:nvSpPr>
        <p:spPr>
          <a:xfrm>
            <a:off x="3171573" y="1660783"/>
            <a:ext cx="2787300" cy="2787300"/>
          </a:xfrm>
          <a:prstGeom prst="pie">
            <a:avLst>
              <a:gd name="adj1" fmla="val 10795717"/>
              <a:gd name="adj2" fmla="val 16201261"/>
            </a:avLst>
          </a:prstGeom>
          <a:solidFill>
            <a:srgbClr val="9BC5E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27"/>
          <p:cNvSpPr/>
          <p:nvPr/>
        </p:nvSpPr>
        <p:spPr>
          <a:xfrm rot="5400000">
            <a:off x="3171560" y="1660783"/>
            <a:ext cx="2787300" cy="2787300"/>
          </a:xfrm>
          <a:prstGeom prst="pie">
            <a:avLst>
              <a:gd name="adj1" fmla="val 10795717"/>
              <a:gd name="adj2" fmla="val 16201261"/>
            </a:avLst>
          </a:prstGeom>
          <a:solidFill>
            <a:srgbClr val="0D47A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27"/>
          <p:cNvSpPr/>
          <p:nvPr/>
        </p:nvSpPr>
        <p:spPr>
          <a:xfrm rot="10800000">
            <a:off x="3171560" y="1660768"/>
            <a:ext cx="2787300" cy="2787300"/>
          </a:xfrm>
          <a:prstGeom prst="pie">
            <a:avLst>
              <a:gd name="adj1" fmla="val 10795717"/>
              <a:gd name="adj2" fmla="val 16180228"/>
            </a:avLst>
          </a:prstGeom>
          <a:solidFill>
            <a:srgbClr val="1976D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27"/>
          <p:cNvSpPr/>
          <p:nvPr/>
        </p:nvSpPr>
        <p:spPr>
          <a:xfrm rot="-5400000">
            <a:off x="3171573" y="1660768"/>
            <a:ext cx="2787300" cy="2787300"/>
          </a:xfrm>
          <a:prstGeom prst="pie">
            <a:avLst>
              <a:gd name="adj1" fmla="val 10795717"/>
              <a:gd name="adj2" fmla="val 16201261"/>
            </a:avLst>
          </a:prstGeom>
          <a:solidFill>
            <a:srgbClr val="2196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0" name="Google Shape;330;p27"/>
          <p:cNvGrpSpPr/>
          <p:nvPr/>
        </p:nvGrpSpPr>
        <p:grpSpPr>
          <a:xfrm>
            <a:off x="3078687" y="2700858"/>
            <a:ext cx="737729" cy="737729"/>
            <a:chOff x="2920647" y="2157958"/>
            <a:chExt cx="827700" cy="827700"/>
          </a:xfrm>
        </p:grpSpPr>
        <p:sp>
          <p:nvSpPr>
            <p:cNvPr id="331" name="Google Shape;331;p27"/>
            <p:cNvSpPr/>
            <p:nvPr/>
          </p:nvSpPr>
          <p:spPr>
            <a:xfrm rot="2368348">
              <a:off x="3040494" y="2277805"/>
              <a:ext cx="588007" cy="588007"/>
            </a:xfrm>
            <a:prstGeom prst="pie">
              <a:avLst>
                <a:gd name="adj1" fmla="val 18953478"/>
                <a:gd name="adj2" fmla="val 8381030"/>
              </a:avLst>
            </a:prstGeom>
            <a:solidFill>
              <a:srgbClr val="9BC5E9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27"/>
            <p:cNvSpPr/>
            <p:nvPr/>
          </p:nvSpPr>
          <p:spPr>
            <a:xfrm rot="248723">
              <a:off x="3023158" y="2234335"/>
              <a:ext cx="655715" cy="655993"/>
            </a:xfrm>
            <a:prstGeom prst="chord">
              <a:avLst>
                <a:gd name="adj1" fmla="val 2500565"/>
                <a:gd name="adj2" fmla="val 1811979"/>
              </a:avLst>
            </a:prstGeom>
            <a:solidFill>
              <a:srgbClr val="9BC5E9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3" name="Google Shape;333;p27"/>
          <p:cNvSpPr txBox="1"/>
          <p:nvPr/>
        </p:nvSpPr>
        <p:spPr>
          <a:xfrm>
            <a:off x="3199194" y="2882857"/>
            <a:ext cx="507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01</a:t>
            </a:r>
            <a:endParaRPr sz="16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4" name="Google Shape;334;p27"/>
          <p:cNvGrpSpPr/>
          <p:nvPr/>
        </p:nvGrpSpPr>
        <p:grpSpPr>
          <a:xfrm rot="-5400000">
            <a:off x="4225338" y="3802929"/>
            <a:ext cx="737729" cy="737729"/>
            <a:chOff x="2920647" y="2157958"/>
            <a:chExt cx="827700" cy="827700"/>
          </a:xfrm>
        </p:grpSpPr>
        <p:sp>
          <p:nvSpPr>
            <p:cNvPr id="335" name="Google Shape;335;p27"/>
            <p:cNvSpPr/>
            <p:nvPr/>
          </p:nvSpPr>
          <p:spPr>
            <a:xfrm rot="2368348">
              <a:off x="3040494" y="2277805"/>
              <a:ext cx="588007" cy="588007"/>
            </a:xfrm>
            <a:prstGeom prst="pie">
              <a:avLst>
                <a:gd name="adj1" fmla="val 18953478"/>
                <a:gd name="adj2" fmla="val 8381030"/>
              </a:avLst>
            </a:prstGeom>
            <a:solidFill>
              <a:srgbClr val="2196F3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" name="Google Shape;336;p27"/>
            <p:cNvSpPr/>
            <p:nvPr/>
          </p:nvSpPr>
          <p:spPr>
            <a:xfrm rot="248723">
              <a:off x="3023158" y="2234335"/>
              <a:ext cx="655715" cy="655993"/>
            </a:xfrm>
            <a:prstGeom prst="chord">
              <a:avLst>
                <a:gd name="adj1" fmla="val 2500565"/>
                <a:gd name="adj2" fmla="val 1811979"/>
              </a:avLst>
            </a:prstGeom>
            <a:solidFill>
              <a:srgbClr val="2196F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7" name="Google Shape;337;p27"/>
          <p:cNvSpPr txBox="1"/>
          <p:nvPr/>
        </p:nvSpPr>
        <p:spPr>
          <a:xfrm>
            <a:off x="4320431" y="3970948"/>
            <a:ext cx="507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02</a:t>
            </a:r>
            <a:endParaRPr sz="16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38" name="Google Shape;338;p27"/>
          <p:cNvGrpSpPr/>
          <p:nvPr/>
        </p:nvGrpSpPr>
        <p:grpSpPr>
          <a:xfrm>
            <a:off x="5313093" y="2700655"/>
            <a:ext cx="737804" cy="737804"/>
            <a:chOff x="5428888" y="2158023"/>
            <a:chExt cx="828900" cy="828900"/>
          </a:xfrm>
        </p:grpSpPr>
        <p:sp>
          <p:nvSpPr>
            <p:cNvPr id="339" name="Google Shape;339;p27"/>
            <p:cNvSpPr/>
            <p:nvPr/>
          </p:nvSpPr>
          <p:spPr>
            <a:xfrm rot="-8431175">
              <a:off x="5548912" y="2278047"/>
              <a:ext cx="588851" cy="588851"/>
            </a:xfrm>
            <a:prstGeom prst="pie">
              <a:avLst>
                <a:gd name="adj1" fmla="val 19686997"/>
                <a:gd name="adj2" fmla="val 7771013"/>
              </a:avLst>
            </a:prstGeom>
            <a:solidFill>
              <a:srgbClr val="1976D2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" name="Google Shape;340;p27"/>
            <p:cNvSpPr/>
            <p:nvPr/>
          </p:nvSpPr>
          <p:spPr>
            <a:xfrm rot="-10551618">
              <a:off x="5498383" y="2253584"/>
              <a:ext cx="656613" cy="656891"/>
            </a:xfrm>
            <a:prstGeom prst="chord">
              <a:avLst>
                <a:gd name="adj1" fmla="val 2500565"/>
                <a:gd name="adj2" fmla="val 1811979"/>
              </a:avLst>
            </a:prstGeom>
            <a:solidFill>
              <a:srgbClr val="1976D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1" name="Google Shape;341;p27"/>
          <p:cNvSpPr txBox="1"/>
          <p:nvPr/>
        </p:nvSpPr>
        <p:spPr>
          <a:xfrm>
            <a:off x="5404083" y="2882857"/>
            <a:ext cx="507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03</a:t>
            </a:r>
            <a:endParaRPr sz="16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grpSp>
        <p:nvGrpSpPr>
          <p:cNvPr id="342" name="Google Shape;342;p27"/>
          <p:cNvGrpSpPr/>
          <p:nvPr/>
        </p:nvGrpSpPr>
        <p:grpSpPr>
          <a:xfrm rot="5400000">
            <a:off x="4193370" y="1569752"/>
            <a:ext cx="737729" cy="737729"/>
            <a:chOff x="2920647" y="2157958"/>
            <a:chExt cx="827700" cy="827700"/>
          </a:xfrm>
        </p:grpSpPr>
        <p:sp>
          <p:nvSpPr>
            <p:cNvPr id="343" name="Google Shape;343;p27"/>
            <p:cNvSpPr/>
            <p:nvPr/>
          </p:nvSpPr>
          <p:spPr>
            <a:xfrm rot="2368348">
              <a:off x="3040494" y="2277805"/>
              <a:ext cx="588007" cy="588007"/>
            </a:xfrm>
            <a:prstGeom prst="pie">
              <a:avLst>
                <a:gd name="adj1" fmla="val 18953478"/>
                <a:gd name="adj2" fmla="val 8381030"/>
              </a:avLst>
            </a:prstGeom>
            <a:solidFill>
              <a:srgbClr val="0D47A1"/>
            </a:solidFill>
            <a:ln>
              <a:noFill/>
            </a:ln>
            <a:effectLst>
              <a:outerShdw blurRad="228600" dist="50800" dir="5400000" algn="tl" rotWithShape="0">
                <a:srgbClr val="000000">
                  <a:alpha val="549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" name="Google Shape;344;p27"/>
            <p:cNvSpPr/>
            <p:nvPr/>
          </p:nvSpPr>
          <p:spPr>
            <a:xfrm rot="248723">
              <a:off x="3023158" y="2234335"/>
              <a:ext cx="655715" cy="655993"/>
            </a:xfrm>
            <a:prstGeom prst="chord">
              <a:avLst>
                <a:gd name="adj1" fmla="val 2500565"/>
                <a:gd name="adj2" fmla="val 1811979"/>
              </a:avLst>
            </a:prstGeom>
            <a:solidFill>
              <a:srgbClr val="0D47A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45" name="Google Shape;345;p27"/>
          <p:cNvSpPr txBox="1"/>
          <p:nvPr/>
        </p:nvSpPr>
        <p:spPr>
          <a:xfrm>
            <a:off x="4320431" y="1765093"/>
            <a:ext cx="5079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  <a:latin typeface="Roboto"/>
                <a:ea typeface="Roboto"/>
                <a:cs typeface="Roboto"/>
                <a:sym typeface="Roboto"/>
              </a:rPr>
              <a:t>04</a:t>
            </a:r>
            <a:endParaRPr sz="1600" b="1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346" name="Google Shape;346;p27"/>
          <p:cNvSpPr/>
          <p:nvPr/>
        </p:nvSpPr>
        <p:spPr>
          <a:xfrm>
            <a:off x="3753714" y="2242913"/>
            <a:ext cx="1623000" cy="1623000"/>
          </a:xfrm>
          <a:prstGeom prst="ellipse">
            <a:avLst/>
          </a:prstGeom>
          <a:solidFill>
            <a:srgbClr val="1B212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27"/>
          <p:cNvSpPr txBox="1"/>
          <p:nvPr/>
        </p:nvSpPr>
        <p:spPr>
          <a:xfrm>
            <a:off x="6050893" y="1779838"/>
            <a:ext cx="1854000" cy="44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Cloud Courses</a:t>
            </a:r>
            <a:endParaRPr b="1"/>
          </a:p>
        </p:txBody>
      </p:sp>
      <p:sp>
        <p:nvSpPr>
          <p:cNvPr id="348" name="Google Shape;348;p27"/>
          <p:cNvSpPr txBox="1"/>
          <p:nvPr/>
        </p:nvSpPr>
        <p:spPr>
          <a:xfrm>
            <a:off x="5359100" y="2351350"/>
            <a:ext cx="3237600" cy="278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914400" lvl="1" indent="-29845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GB" sz="1100">
                <a:solidFill>
                  <a:schemeClr val="lt1"/>
                </a:solidFill>
              </a:rPr>
              <a:t>AWS Certified Solutions Architect (Udemy)</a:t>
            </a:r>
            <a:endParaRPr sz="1100">
              <a:solidFill>
                <a:schemeClr val="lt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GB" sz="1100">
                <a:solidFill>
                  <a:schemeClr val="lt1"/>
                </a:solidFill>
              </a:rPr>
              <a:t>Microsoft Azure Fundamentals (AZ-900)</a:t>
            </a:r>
            <a:endParaRPr sz="1100">
              <a:solidFill>
                <a:schemeClr val="lt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GB" sz="1100">
                <a:solidFill>
                  <a:schemeClr val="lt1"/>
                </a:solidFill>
              </a:rPr>
              <a:t>Google Cloud Fundamentals (Coursera)</a:t>
            </a:r>
            <a:endParaRPr sz="1100">
              <a:solidFill>
                <a:schemeClr val="lt1"/>
              </a:solidFill>
            </a:endParaRPr>
          </a:p>
          <a:p>
            <a:pPr marL="914400" lvl="1" indent="-29845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en-GB" sz="1100">
                <a:solidFill>
                  <a:schemeClr val="lt1"/>
                </a:solidFill>
              </a:rPr>
              <a:t>DevOps on AWS (LinkedIn Learning)</a:t>
            </a:r>
            <a:endParaRPr sz="11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endParaRPr sz="1200">
              <a:solidFill>
                <a:schemeClr val="lt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1600"/>
              </a:spcAft>
              <a:buNone/>
            </a:pPr>
            <a:endParaRPr sz="1200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28"/>
          <p:cNvSpPr txBox="1">
            <a:spLocks noGrp="1"/>
          </p:cNvSpPr>
          <p:nvPr>
            <p:ph type="title"/>
          </p:nvPr>
        </p:nvSpPr>
        <p:spPr>
          <a:xfrm>
            <a:off x="2641700" y="393750"/>
            <a:ext cx="59847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Final Thoughts and Next Steps</a:t>
            </a:r>
            <a:endParaRPr b="1"/>
          </a:p>
        </p:txBody>
      </p:sp>
      <p:sp>
        <p:nvSpPr>
          <p:cNvPr id="354" name="Google Shape;354;p28"/>
          <p:cNvSpPr txBox="1">
            <a:spLocks noGrp="1"/>
          </p:cNvSpPr>
          <p:nvPr>
            <p:ph type="body" idx="1"/>
          </p:nvPr>
        </p:nvSpPr>
        <p:spPr>
          <a:xfrm>
            <a:off x="3159500" y="1112025"/>
            <a:ext cx="5984700" cy="3657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The tech industry offers numerous profitable opportunities for entrepreneurs and professionals.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Start by learning AI and cloud basics and apply skills in real-world projects.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Gain certifications to enhance credibility and job prospects.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Char char="●"/>
            </a:pPr>
            <a:r>
              <a:rPr lang="en-GB" sz="18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Explore freelancing, consulting, and investments to maximize earnings.</a:t>
            </a: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lvl="0" indent="0" algn="l" rtl="0">
              <a:spcBef>
                <a:spcPts val="1200"/>
              </a:spcBef>
              <a:spcAft>
                <a:spcPts val="1600"/>
              </a:spcAft>
              <a:buNone/>
            </a:pPr>
            <a:endParaRPr sz="1800">
              <a:solidFill>
                <a:schemeClr val="lt1"/>
              </a:solidFill>
            </a:endParaRPr>
          </a:p>
        </p:txBody>
      </p:sp>
      <p:pic>
        <p:nvPicPr>
          <p:cNvPr id="355" name="Google Shape;355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38800"/>
            <a:ext cx="1766700" cy="142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2964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61" name="Google Shape;361;p29"/>
          <p:cNvSpPr txBox="1">
            <a:spLocks noGrp="1"/>
          </p:cNvSpPr>
          <p:nvPr>
            <p:ph type="title"/>
          </p:nvPr>
        </p:nvSpPr>
        <p:spPr>
          <a:xfrm>
            <a:off x="2284500" y="1512750"/>
            <a:ext cx="3926700" cy="10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1"/>
              <a:t>Thank you!</a:t>
            </a:r>
            <a:endParaRPr b="1"/>
          </a:p>
        </p:txBody>
      </p:sp>
      <p:sp>
        <p:nvSpPr>
          <p:cNvPr id="362" name="Google Shape;362;p29"/>
          <p:cNvSpPr txBox="1">
            <a:spLocks noGrp="1"/>
          </p:cNvSpPr>
          <p:nvPr>
            <p:ph type="body" idx="1"/>
          </p:nvPr>
        </p:nvSpPr>
        <p:spPr>
          <a:xfrm>
            <a:off x="2284500" y="2365448"/>
            <a:ext cx="4575000" cy="2069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"Start your journey in tech today!"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457200" lvl="0" indent="-342900" algn="ctr" rtl="0">
              <a:spcBef>
                <a:spcPts val="1200"/>
              </a:spcBef>
              <a:spcAft>
                <a:spcPts val="0"/>
              </a:spcAft>
              <a:buSzPts val="1800"/>
              <a:buFont typeface="Arial"/>
              <a:buChar char="●"/>
            </a:pPr>
            <a:r>
              <a:rPr lang="en-GB" sz="1800">
                <a:latin typeface="Arial"/>
                <a:ea typeface="Arial"/>
                <a:cs typeface="Arial"/>
                <a:sym typeface="Arial"/>
              </a:rPr>
              <a:t>Explore AI, cloud computing, and other emerging technologies.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marL="0" lvl="0" indent="0" algn="ctr" rtl="0">
              <a:spcBef>
                <a:spcPts val="1200"/>
              </a:spcBef>
              <a:spcAft>
                <a:spcPts val="1600"/>
              </a:spcAft>
              <a:buNone/>
            </a:pP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63" name="Google Shape;363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14763" y="-235325"/>
            <a:ext cx="2069120" cy="2069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983</Words>
  <Application>Microsoft Office PowerPoint</Application>
  <PresentationFormat>On-screen Show (16:9)</PresentationFormat>
  <Paragraphs>100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Roboto</vt:lpstr>
      <vt:lpstr>Arial</vt:lpstr>
      <vt:lpstr>Lato</vt:lpstr>
      <vt:lpstr>Montserrat</vt:lpstr>
      <vt:lpstr>Focus</vt:lpstr>
      <vt:lpstr>Tech Money  </vt:lpstr>
      <vt:lpstr>What is Technology?</vt:lpstr>
      <vt:lpstr>What is Tech Money?</vt:lpstr>
      <vt:lpstr>Types of Tech Money </vt:lpstr>
      <vt:lpstr>Tech Products and Services </vt:lpstr>
      <vt:lpstr>Top Money-Making Sectors in Tech</vt:lpstr>
      <vt:lpstr>AI &amp; Cloud Computing:  The Most Profitable in Tech</vt:lpstr>
      <vt:lpstr>How AI &amp; Cloud Generate Revenue</vt:lpstr>
      <vt:lpstr>Career Paths in AI &amp; Cloud Computing </vt:lpstr>
      <vt:lpstr>Monetizing AI and Cloud Skills</vt:lpstr>
      <vt:lpstr>Recommended Learning Resources </vt:lpstr>
      <vt:lpstr>Final Thoughts and Next Steps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Teimo</dc:creator>
  <cp:lastModifiedBy>Rosemary BobManuel</cp:lastModifiedBy>
  <cp:revision>1</cp:revision>
  <dcterms:modified xsi:type="dcterms:W3CDTF">2025-02-24T11:01:27Z</dcterms:modified>
</cp:coreProperties>
</file>